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Welcome participants. Frame the session around the gap between installing Copilot and having a useful workflow. This is professional productivity training, not professional developer training.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State the learning outcome. Participants should leave able to turn a real task into a useful interaction, choose a surface, iterate, and verify.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 the opening poll. Normalize uncertainty after installation. Reinforce that the session is designed to close this practical gap.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one quick role-neutral example for each pattern. Ask participants which pattern appears most often in their work.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the selection rule: start where the context already lives. Do not present one surface as more advanced or better than another.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the four-part prompting pattern. Pause briefly so participants can capture it.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Ask what Copilot must guess in the weak prompt. Explain each component of the stronger prompt and emphasize that prompts are iterative.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Begin the live demonstration. Use the synthetic CSV and notes from the demo script. Narrate why each transition occurs.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after the first generated script. Ask the audience what they would verify before running it.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 verification, synthetic data, organizational policy, read-only first steps, testing, and source checking.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 participants a moment to choose a real task. Direct them to the learner handout.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 remaining time for Q&amp;A. Map answers back to the productivity pattern, best surface, context needed, and verification method.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7F5"/>
          </a:solidFill>
        </p:spPr>
        <p:txBody>
          <a:bodyPr rtlCol="0" anchor="ctr"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96B72"/>
          </a:solidFill>
        </p:spPr>
        <p:txBody>
          <a:bodyPr rtlCol="0" anchor="ctr"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850000" y="1450000"/>
            <a:ext cx="7500000" cy="16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400">
                <a:solidFill>
                  <a:srgbClr val="0D3B49"/>
                </a:solidFill>
                <a:latin typeface="Aptos Display"/>
              </a:rPr>
              <a:t>GitHub Copilot for</a:t>
            </a:r>
          </a:p>
          <a:p>
            <a:r>
              <a:rPr b="1" sz="3400">
                <a:solidFill>
                  <a:srgbClr val="0D3B49"/>
                </a:solidFill>
                <a:latin typeface="Aptos Display"/>
              </a:rPr>
              <a:t>Professional Productivity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0000" y="3400000"/>
            <a:ext cx="6900000" cy="9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200">
                <a:solidFill>
                  <a:srgbClr val="234E52"/>
                </a:solidFill>
                <a:latin typeface="Aptos"/>
              </a:rPr>
              <a:t>Move from “I installed it” to “I know what to do next.”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70000" y="5600000"/>
            <a:ext cx="6900000" cy="5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700">
                <a:solidFill>
                  <a:srgbClr val="096B72"/>
                </a:solidFill>
                <a:latin typeface="Aptos"/>
              </a:rPr>
              <a:t>One hour • Four surfaces • One repeatable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00000" y="1200000"/>
            <a:ext cx="100000" cy="4700000"/>
          </a:xfrm>
          <a:prstGeom prst="rect">
            <a:avLst/>
          </a:prstGeom>
          <a:solidFill>
            <a:srgbClr val="15A3A3"/>
          </a:solidFill>
        </p:spPr>
        <p:txBody>
          <a:bodyPr rtlCol="0"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00000" y="350000"/>
            <a:ext cx="7900000" cy="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0D3B49"/>
                </a:solidFill>
                <a:latin typeface="Aptos Display"/>
              </a:rPr>
              <a:t>Today’s outcome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450000"/>
            <a:ext cx="7400000" cy="39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200">
                <a:solidFill>
                  <a:srgbClr val="20343B"/>
                </a:solidFill>
                <a:latin typeface="Aptos"/>
              </a:rPr>
              <a:t>Bring Copilot a real work task</a:t>
            </a:r>
          </a:p>
          <a:p>
            <a:r>
              <a:rPr sz="2200">
                <a:solidFill>
                  <a:srgbClr val="20343B"/>
                </a:solidFill>
                <a:latin typeface="Aptos"/>
              </a:rPr>
              <a:t>Give it useful context and boundaries</a:t>
            </a:r>
          </a:p>
          <a:p>
            <a:r>
              <a:rPr sz="2200">
                <a:solidFill>
                  <a:srgbClr val="20343B"/>
                </a:solidFill>
                <a:latin typeface="Aptos"/>
              </a:rPr>
              <a:t>Improve the first result through conversation</a:t>
            </a:r>
          </a:p>
          <a:p>
            <a:r>
              <a:rPr sz="2200">
                <a:solidFill>
                  <a:srgbClr val="20343B"/>
                </a:solidFill>
                <a:latin typeface="Aptos"/>
              </a:rPr>
              <a:t>Choose the surface where the work already lives</a:t>
            </a:r>
          </a:p>
          <a:p>
            <a:r>
              <a:rPr sz="2200">
                <a:solidFill>
                  <a:srgbClr val="20343B"/>
                </a:solidFill>
                <a:latin typeface="Aptos"/>
              </a:rPr>
              <a:t>Verify the result before you use or share it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5700000"/>
            <a:ext cx="7400000" cy="4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096B72"/>
                </a:solidFill>
                <a:latin typeface="Aptos"/>
              </a:rPr>
              <a:t>Your judgment stays in the driver’s seat.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00000" y="1200000"/>
            <a:ext cx="100000" cy="4700000"/>
          </a:xfrm>
          <a:prstGeom prst="rect">
            <a:avLst/>
          </a:prstGeom>
          <a:solidFill>
            <a:srgbClr val="15A3A3"/>
          </a:solidFill>
        </p:spPr>
        <p:txBody>
          <a:bodyPr rtlCol="0"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00000" y="350000"/>
            <a:ext cx="7900000" cy="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0D3B49"/>
                </a:solidFill>
                <a:latin typeface="Aptos Display"/>
              </a:rPr>
              <a:t>The blank chat box problem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450000"/>
            <a:ext cx="7400000" cy="3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400">
                <a:solidFill>
                  <a:srgbClr val="20343B"/>
                </a:solidFill>
                <a:latin typeface="Aptos"/>
              </a:rPr>
              <a:t>“What should I ask?”</a:t>
            </a:r>
          </a:p>
          <a:p>
            <a:r>
              <a:rPr sz="2400">
                <a:solidFill>
                  <a:srgbClr val="20343B"/>
                </a:solidFill>
                <a:latin typeface="Aptos"/>
              </a:rPr>
              <a:t>“Why was the answer so generic?”</a:t>
            </a:r>
          </a:p>
          <a:p>
            <a:r>
              <a:rPr sz="2400">
                <a:solidFill>
                  <a:srgbClr val="20343B"/>
                </a:solidFill>
                <a:latin typeface="Aptos"/>
              </a:rPr>
              <a:t>“Which Copilot should I use?”</a:t>
            </a:r>
          </a:p>
          <a:p>
            <a:r>
              <a:rPr sz="2400">
                <a:solidFill>
                  <a:srgbClr val="20343B"/>
                </a:solidFill>
                <a:latin typeface="Aptos"/>
              </a:rPr>
              <a:t>“Can I trust the result?”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5350000"/>
            <a:ext cx="7400000" cy="6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900">
                <a:solidFill>
                  <a:srgbClr val="096B72"/>
                </a:solidFill>
                <a:latin typeface="Aptos"/>
              </a:rPr>
              <a:t>Installing a capability is not the same as building a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00000" y="1200000"/>
            <a:ext cx="100000" cy="4700000"/>
          </a:xfrm>
          <a:prstGeom prst="rect">
            <a:avLst/>
          </a:prstGeom>
          <a:solidFill>
            <a:srgbClr val="15A3A3"/>
          </a:solidFill>
        </p:spPr>
        <p:txBody>
          <a:bodyPr rtlCol="0"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00000" y="350000"/>
            <a:ext cx="7900000" cy="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0D3B49"/>
                </a:solidFill>
                <a:latin typeface="Aptos Display"/>
              </a:rPr>
              <a:t>Five ways Copilot can help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400000"/>
            <a:ext cx="7400000" cy="4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200">
                <a:solidFill>
                  <a:srgbClr val="20343B"/>
                </a:solidFill>
                <a:latin typeface="Aptos"/>
              </a:rPr>
              <a:t>UNDERSTAND — explain unfamiliar material</a:t>
            </a:r>
          </a:p>
          <a:p>
            <a:r>
              <a:rPr sz="2200">
                <a:solidFill>
                  <a:srgbClr val="20343B"/>
                </a:solidFill>
                <a:latin typeface="Aptos"/>
              </a:rPr>
              <a:t>DRAFT — create a useful first version</a:t>
            </a:r>
          </a:p>
          <a:p>
            <a:r>
              <a:rPr sz="2200">
                <a:solidFill>
                  <a:srgbClr val="20343B"/>
                </a:solidFill>
                <a:latin typeface="Aptos"/>
              </a:rPr>
              <a:t>TRANSFORM — restructure or simplify information</a:t>
            </a:r>
          </a:p>
          <a:p>
            <a:r>
              <a:rPr sz="2200">
                <a:solidFill>
                  <a:srgbClr val="20343B"/>
                </a:solidFill>
                <a:latin typeface="Aptos"/>
              </a:rPr>
              <a:t>AUTOMATE — script repeatable steps</a:t>
            </a:r>
          </a:p>
          <a:p>
            <a:r>
              <a:rPr sz="2200">
                <a:solidFill>
                  <a:srgbClr val="20343B"/>
                </a:solidFill>
                <a:latin typeface="Aptos"/>
              </a:rPr>
              <a:t>REVIEW — find gaps, risks, and edge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00000" y="1200000"/>
            <a:ext cx="100000" cy="4700000"/>
          </a:xfrm>
          <a:prstGeom prst="rect">
            <a:avLst/>
          </a:prstGeom>
          <a:solidFill>
            <a:srgbClr val="15A3A3"/>
          </a:solidFill>
        </p:spPr>
        <p:txBody>
          <a:bodyPr rtlCol="0"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00000" y="350000"/>
            <a:ext cx="7900000" cy="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0D3B49"/>
                </a:solidFill>
                <a:latin typeface="Aptos Display"/>
              </a:rPr>
              <a:t>Start where the work lives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350000"/>
            <a:ext cx="7400000" cy="45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100">
                <a:solidFill>
                  <a:srgbClr val="20343B"/>
                </a:solidFill>
                <a:latin typeface="Aptos"/>
              </a:rPr>
              <a:t>COPILOT APP — shape broad or ambiguous work</a:t>
            </a:r>
          </a:p>
          <a:p>
            <a:r>
              <a:rPr sz="2100">
                <a:solidFill>
                  <a:srgbClr val="20343B"/>
                </a:solidFill>
                <a:latin typeface="Aptos"/>
              </a:rPr>
              <a:t>CLI — work with commands, files, and terminal workflows</a:t>
            </a:r>
          </a:p>
          <a:p>
            <a:r>
              <a:rPr sz="2100">
                <a:solidFill>
                  <a:srgbClr val="20343B"/>
                </a:solidFill>
                <a:latin typeface="Aptos"/>
              </a:rPr>
              <a:t>VS CODE — edit scripts, configuration, and structured text</a:t>
            </a:r>
          </a:p>
          <a:p>
            <a:r>
              <a:rPr sz="2100">
                <a:solidFill>
                  <a:srgbClr val="20343B"/>
                </a:solidFill>
                <a:latin typeface="Aptos"/>
              </a:rPr>
              <a:t>GITHUB.COM — work with repositories, issues, and pull requests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5750000"/>
            <a:ext cx="7400000" cy="4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096B72"/>
                </a:solidFill>
                <a:latin typeface="Aptos"/>
              </a:rPr>
              <a:t>The surfaces are workspaces, not a skill ladder.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3B49"/>
          </a:solidFill>
        </p:spPr>
        <p:txBody>
          <a:bodyPr rtlCol="0"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900000" y="1200000"/>
            <a:ext cx="7300000" cy="1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200">
                <a:solidFill>
                  <a:srgbClr val="FFFFFF"/>
                </a:solidFill>
                <a:latin typeface="Aptos Display"/>
              </a:rPr>
              <a:t>Goal • Context • Constraints • Check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0000" y="3200000"/>
            <a:ext cx="6800000" cy="1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400">
                <a:solidFill>
                  <a:srgbClr val="C9F4EE"/>
                </a:solidFill>
                <a:latin typeface="Aptos"/>
              </a:rPr>
              <a:t>A simple pattern for turning a blank chat box</a:t>
            </a:r>
          </a:p>
          <a:p>
            <a:r>
              <a:rPr sz="2400">
                <a:solidFill>
                  <a:srgbClr val="C9F4EE"/>
                </a:solidFill>
                <a:latin typeface="Aptos"/>
              </a:rPr>
              <a:t>into a productive conversation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00000" y="1200000"/>
            <a:ext cx="100000" cy="4700000"/>
          </a:xfrm>
          <a:prstGeom prst="rect">
            <a:avLst/>
          </a:prstGeom>
          <a:solidFill>
            <a:srgbClr val="15A3A3"/>
          </a:solidFill>
        </p:spPr>
        <p:txBody>
          <a:bodyPr rtlCol="0"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00000" y="350000"/>
            <a:ext cx="7900000" cy="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0D3B49"/>
                </a:solidFill>
                <a:latin typeface="Aptos Display"/>
              </a:rPr>
              <a:t>From vague to useful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300000"/>
            <a:ext cx="7400000" cy="45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900">
                <a:solidFill>
                  <a:srgbClr val="096B72"/>
                </a:solidFill>
                <a:latin typeface="Aptos"/>
              </a:rPr>
              <a:t>WEAK</a:t>
            </a:r>
          </a:p>
          <a:p>
            <a:r>
              <a:rPr sz="2100">
                <a:solidFill>
                  <a:srgbClr val="20343B"/>
                </a:solidFill>
                <a:latin typeface="Aptos"/>
              </a:rPr>
              <a:t>“Make me a script for this report.”</a:t>
            </a:r>
          </a:p>
          <a:p/>
          <a:p>
            <a:r>
              <a:rPr b="1" sz="1900">
                <a:solidFill>
                  <a:srgbClr val="096B72"/>
                </a:solidFill>
                <a:latin typeface="Aptos"/>
              </a:rPr>
              <a:t>STRONGER</a:t>
            </a:r>
          </a:p>
          <a:p>
            <a:r>
              <a:rPr sz="1800">
                <a:solidFill>
                  <a:srgbClr val="20343B"/>
                </a:solidFill>
                <a:latin typeface="Aptos"/>
              </a:rPr>
              <a:t>Goal: Find incomplete CSV records and write a summary.</a:t>
            </a:r>
          </a:p>
          <a:p>
            <a:r>
              <a:rPr sz="1800">
                <a:solidFill>
                  <a:srgbClr val="20343B"/>
                </a:solidFill>
                <a:latin typeface="Aptos"/>
              </a:rPr>
              <a:t>Context: Windows; four known columns; run every Friday.</a:t>
            </a:r>
          </a:p>
          <a:p>
            <a:r>
              <a:rPr sz="1800">
                <a:solidFill>
                  <a:srgbClr val="20343B"/>
                </a:solidFill>
                <a:latin typeface="Aptos"/>
              </a:rPr>
              <a:t>Constraints: Do not modify the source; built-in PowerShell only.</a:t>
            </a:r>
          </a:p>
          <a:p>
            <a:r>
              <a:rPr sz="1800">
                <a:solidFill>
                  <a:srgbClr val="20343B"/>
                </a:solidFill>
                <a:latin typeface="Aptos"/>
              </a:rPr>
              <a:t>Check: Explain first; include tests for valid, incomplete, and empty files.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00000" y="1200000"/>
            <a:ext cx="100000" cy="4700000"/>
          </a:xfrm>
          <a:prstGeom prst="rect">
            <a:avLst/>
          </a:prstGeom>
          <a:solidFill>
            <a:srgbClr val="15A3A3"/>
          </a:solidFill>
        </p:spPr>
        <p:txBody>
          <a:bodyPr rtlCol="0"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00000" y="350000"/>
            <a:ext cx="7900000" cy="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0D3B49"/>
                </a:solidFill>
                <a:latin typeface="Aptos Display"/>
              </a:rPr>
              <a:t>One task, four surfaces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350000"/>
            <a:ext cx="7400000" cy="43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300">
                <a:solidFill>
                  <a:srgbClr val="20343B"/>
                </a:solidFill>
                <a:latin typeface="Aptos"/>
              </a:rPr>
              <a:t>1  COPILOT APP — clarify the workflow</a:t>
            </a:r>
          </a:p>
          <a:p>
            <a:r>
              <a:rPr sz="2300">
                <a:solidFill>
                  <a:srgbClr val="20343B"/>
                </a:solidFill>
                <a:latin typeface="Aptos"/>
              </a:rPr>
              <a:t>2  CLI — inspect the data safely</a:t>
            </a:r>
          </a:p>
          <a:p>
            <a:r>
              <a:rPr sz="2300">
                <a:solidFill>
                  <a:srgbClr val="20343B"/>
                </a:solidFill>
                <a:latin typeface="Aptos"/>
              </a:rPr>
              <a:t>3  VS CODE — create, review, and test the script</a:t>
            </a:r>
          </a:p>
          <a:p>
            <a:r>
              <a:rPr sz="2300">
                <a:solidFill>
                  <a:srgbClr val="20343B"/>
                </a:solidFill>
                <a:latin typeface="Aptos"/>
              </a:rPr>
              <a:t>4  GITHUB.COM — make the follow-up shareable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5750000"/>
            <a:ext cx="7400000" cy="4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096B72"/>
                </a:solidFill>
                <a:latin typeface="Aptos"/>
              </a:rPr>
              <a:t>Scenario: a weekly CSV with missing owners and due 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00000" y="1200000"/>
            <a:ext cx="100000" cy="4700000"/>
          </a:xfrm>
          <a:prstGeom prst="rect">
            <a:avLst/>
          </a:prstGeom>
          <a:solidFill>
            <a:srgbClr val="15A3A3"/>
          </a:solidFill>
        </p:spPr>
        <p:txBody>
          <a:bodyPr rtlCol="0"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00000" y="350000"/>
            <a:ext cx="7900000" cy="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0D3B49"/>
                </a:solidFill>
                <a:latin typeface="Aptos Display"/>
              </a:rPr>
              <a:t>The first output is a draft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400000"/>
            <a:ext cx="7400000" cy="4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300">
                <a:solidFill>
                  <a:srgbClr val="20343B"/>
                </a:solidFill>
                <a:latin typeface="Aptos"/>
              </a:rPr>
              <a:t>Ask for a plan</a:t>
            </a:r>
          </a:p>
          <a:p>
            <a:r>
              <a:rPr sz="2300">
                <a:solidFill>
                  <a:srgbClr val="20343B"/>
                </a:solidFill>
                <a:latin typeface="Aptos"/>
              </a:rPr>
              <a:t>Inspect assumptions</a:t>
            </a:r>
          </a:p>
          <a:p>
            <a:r>
              <a:rPr sz="2300">
                <a:solidFill>
                  <a:srgbClr val="20343B"/>
                </a:solidFill>
                <a:latin typeface="Aptos"/>
              </a:rPr>
              <a:t>Request a small first version</a:t>
            </a:r>
          </a:p>
          <a:p>
            <a:r>
              <a:rPr sz="2300">
                <a:solidFill>
                  <a:srgbClr val="20343B"/>
                </a:solidFill>
                <a:latin typeface="Aptos"/>
              </a:rPr>
              <a:t>Test it</a:t>
            </a:r>
          </a:p>
          <a:p>
            <a:r>
              <a:rPr sz="2300">
                <a:solidFill>
                  <a:srgbClr val="20343B"/>
                </a:solidFill>
                <a:latin typeface="Aptos"/>
              </a:rPr>
              <a:t>Share the exact result or error</a:t>
            </a:r>
          </a:p>
          <a:p>
            <a:r>
              <a:rPr sz="2300">
                <a:solidFill>
                  <a:srgbClr val="20343B"/>
                </a:solidFill>
                <a:latin typeface="Aptos"/>
              </a:rPr>
              <a:t>Refine only what needs improvement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00000" y="1200000"/>
            <a:ext cx="100000" cy="4700000"/>
          </a:xfrm>
          <a:prstGeom prst="rect">
            <a:avLst/>
          </a:prstGeom>
          <a:solidFill>
            <a:srgbClr val="15A3A3"/>
          </a:solidFill>
        </p:spPr>
        <p:txBody>
          <a:bodyPr rtlCol="0"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00000" y="350000"/>
            <a:ext cx="7900000" cy="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0D3B49"/>
                </a:solidFill>
                <a:latin typeface="Aptos Display"/>
              </a:rPr>
              <a:t>Keep ownership of the result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400000"/>
            <a:ext cx="7400000" cy="4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100">
                <a:solidFill>
                  <a:srgbClr val="20343B"/>
                </a:solidFill>
                <a:latin typeface="Aptos"/>
              </a:rPr>
              <a:t>ACCURACY — does it match the source and task?</a:t>
            </a:r>
          </a:p>
          <a:p>
            <a:r>
              <a:rPr sz="2100">
                <a:solidFill>
                  <a:srgbClr val="20343B"/>
                </a:solidFill>
                <a:latin typeface="Aptos"/>
              </a:rPr>
              <a:t>SAFETY — could it modify, delete, overwrite, or disclose?</a:t>
            </a:r>
          </a:p>
          <a:p>
            <a:r>
              <a:rPr sz="2100">
                <a:solidFill>
                  <a:srgbClr val="20343B"/>
                </a:solidFill>
                <a:latin typeface="Aptos"/>
              </a:rPr>
              <a:t>POLICY — is the information appropriate to provide?</a:t>
            </a:r>
          </a:p>
          <a:p>
            <a:r>
              <a:rPr sz="2100">
                <a:solidFill>
                  <a:srgbClr val="20343B"/>
                </a:solidFill>
                <a:latin typeface="Aptos"/>
              </a:rPr>
              <a:t>FITNESS — does it work in the real environment?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5700000"/>
            <a:ext cx="7400000" cy="4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096B72"/>
                </a:solidFill>
                <a:latin typeface="Aptos"/>
              </a:rPr>
              <a:t>Confident language is not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00000" y="1200000"/>
            <a:ext cx="100000" cy="4700000"/>
          </a:xfrm>
          <a:prstGeom prst="rect">
            <a:avLst/>
          </a:prstGeom>
          <a:solidFill>
            <a:srgbClr val="15A3A3"/>
          </a:solidFill>
        </p:spPr>
        <p:txBody>
          <a:bodyPr rtlCol="0"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700000" y="350000"/>
            <a:ext cx="7900000" cy="7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000">
                <a:solidFill>
                  <a:srgbClr val="0D3B49"/>
                </a:solidFill>
                <a:latin typeface="Aptos Display"/>
              </a:rPr>
              <a:t>Choose your one-week experiment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00000" y="1400000"/>
            <a:ext cx="7400000" cy="42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300">
                <a:solidFill>
                  <a:srgbClr val="20343B"/>
                </a:solidFill>
                <a:latin typeface="Aptos"/>
              </a:rPr>
              <a:t>A task you already understand</a:t>
            </a:r>
          </a:p>
          <a:p>
            <a:r>
              <a:rPr sz="2300">
                <a:solidFill>
                  <a:srgbClr val="20343B"/>
                </a:solidFill>
                <a:latin typeface="Aptos"/>
              </a:rPr>
              <a:t>Takes 15–60 minutes</a:t>
            </a:r>
          </a:p>
          <a:p>
            <a:r>
              <a:rPr sz="2300">
                <a:solidFill>
                  <a:srgbClr val="20343B"/>
                </a:solidFill>
                <a:latin typeface="Aptos"/>
              </a:rPr>
              <a:t>Happens more than once</a:t>
            </a:r>
          </a:p>
          <a:p>
            <a:r>
              <a:rPr sz="2300">
                <a:solidFill>
                  <a:srgbClr val="20343B"/>
                </a:solidFill>
                <a:latin typeface="Aptos"/>
              </a:rPr>
              <a:t>Has a result you can verify</a:t>
            </a:r>
          </a:p>
          <a:p>
            <a:r>
              <a:rPr sz="2300">
                <a:solidFill>
                  <a:srgbClr val="20343B"/>
                </a:solidFill>
                <a:latin typeface="Aptos"/>
              </a:rPr>
              <a:t>Is safe to try with non-sensitive information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0000" y="5700000"/>
            <a:ext cx="7400000" cy="45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096B72"/>
                </a:solidFill>
                <a:latin typeface="Aptos"/>
              </a:rPr>
              <a:t>Write down the task, surface, constraint, and check.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3B49"/>
          </a:solidFill>
        </p:spPr>
        <p:txBody>
          <a:bodyPr rtlCol="0"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900000" y="1400000"/>
            <a:ext cx="7300000" cy="10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3800">
                <a:solidFill>
                  <a:srgbClr val="FFFFFF"/>
                </a:solidFill>
                <a:latin typeface="Aptos Display"/>
              </a:rPr>
              <a:t>Questions?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00000" y="3000000"/>
            <a:ext cx="6800000" cy="15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sz="2700">
                <a:solidFill>
                  <a:srgbClr val="C9F4EE"/>
                </a:solidFill>
                <a:latin typeface="Aptos"/>
              </a:rPr>
              <a:t>Bring a task.</a:t>
            </a:r>
          </a:p>
          <a:p>
            <a:r>
              <a:rPr sz="2700">
                <a:solidFill>
                  <a:srgbClr val="C9F4EE"/>
                </a:solidFill>
                <a:latin typeface="Aptos"/>
              </a:rPr>
              <a:t>Add context and boundaries.</a:t>
            </a:r>
          </a:p>
          <a:p>
            <a:r>
              <a:rPr sz="2700">
                <a:solidFill>
                  <a:srgbClr val="C9F4EE"/>
                </a:solidFill>
                <a:latin typeface="Aptos"/>
              </a:rPr>
              <a:t>Check the result.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0000" y="5550000"/>
            <a:ext cx="6800000" cy="500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b="1" sz="1800">
                <a:solidFill>
                  <a:srgbClr val="FFFFFF"/>
                </a:solidFill>
                <a:latin typeface="Aptos"/>
              </a:rPr>
              <a:t>Your expertise is what makes Copilot useful.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